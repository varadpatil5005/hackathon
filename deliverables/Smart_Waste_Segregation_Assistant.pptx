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PROBLEM &amp; INTENDED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One wrong item contaminates the whole 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1/7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5836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F4A10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62179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• A campus cafeteria produces mixed waste: paper, plastic, metal, food scraps and non-recyclables</a:t>
            </a:r>
          </a:p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• Students decide in ~2 seconds and often guess - wrappers, paper cups, tetra packs and leftovers are confusing</a:t>
            </a:r>
          </a:p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• Wrong-bin disposal contaminates recycling and forces sanitation staff to re-sort by hand</a:t>
            </a:r>
          </a:p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• Goal: photo of any item → the right bin + how to dispose of it, and an honest 'not sure' when needed</a:t>
            </a:r>
          </a:p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Intended users</a:t>
            </a:r>
          </a:p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• Students &amp; faculty at the bin (phone or kiosk camera)</a:t>
            </a:r>
          </a:p>
          <a:p>
            <a:pPr>
              <a:spcAft>
                <a:spcPts val="600"/>
              </a:spcAft>
              <a:defRPr sz="1500" b="0">
                <a:solidFill>
                  <a:srgbClr val="1A1A17"/>
                </a:solidFill>
                <a:latin typeface="Segoe UI"/>
              </a:defRPr>
            </a:pPr>
            <a:r>
              <a:t>• Cafeteria / housekeeping staff and the campus sustainability team</a:t>
            </a:r>
          </a:p>
        </p:txBody>
      </p:sp>
      <p:pic>
        <p:nvPicPr>
          <p:cNvPr id="10" name="Picture 9" descr="50_Real_chocolate_wrap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2148840" cy="2148840"/>
          </a:xfrm>
          <a:prstGeom prst="rect">
            <a:avLst/>
          </a:prstGeom>
        </p:spPr>
      </p:pic>
      <p:pic>
        <p:nvPicPr>
          <p:cNvPr id="11" name="Picture 10" descr="51_Real_leftover_cak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59" y="1645920"/>
            <a:ext cx="2148840" cy="2148840"/>
          </a:xfrm>
          <a:prstGeom prst="rect">
            <a:avLst/>
          </a:prstGeom>
        </p:spPr>
      </p:pic>
      <p:pic>
        <p:nvPicPr>
          <p:cNvPr id="12" name="Picture 11" descr="52_Real_water_bott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977639"/>
            <a:ext cx="2148840" cy="2148840"/>
          </a:xfrm>
          <a:prstGeom prst="rect">
            <a:avLst/>
          </a:prstGeom>
        </p:spPr>
      </p:pic>
      <p:pic>
        <p:nvPicPr>
          <p:cNvPr id="13" name="Picture 12" descr="07_Meta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59" y="3977639"/>
            <a:ext cx="21488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PROPOSED IDEA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 waste sorter that understands any item - and knows when it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2/7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Open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A17"/>
                </a:solidFill>
                <a:latin typeface="Segoe UI"/>
              </a:defRPr>
            </a:pPr>
            <a:r>
              <a:t>Google SigLIP compares the photo with 202 written descriptions (chocolate wrapper, leftover cake, clay kulhad, tetra pack…) - recognises items never in any training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Three experts, one vote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19456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A17"/>
                </a:solidFill>
                <a:latin typeface="Segoe UI"/>
              </a:defRPr>
            </a:pPr>
            <a:r>
              <a:t>SigLIP zero-shot + SigLIP with a trained head + fine-tuned ConvNeXt, fused with weights 0.5/0.1/0.4 tuned on validation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16002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Honest safety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19456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A17"/>
                </a:solidFill>
                <a:latin typeface="Segoe UI"/>
              </a:defRPr>
            </a:pPr>
            <a:r>
              <a:t>'Not waste' concepts reject selfies, phones, scenery. Low confidence or high entropy → 'check the label, retake, ask staff', plus a manual bin picker.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Item-specific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24612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A17"/>
                </a:solidFill>
                <a:latin typeface="Segoe UI"/>
              </a:defRPr>
            </a:pPr>
            <a:r>
              <a:t>Bin + target + steps + item tips: multi-layer wrappers, greasy pizza boxes, batteries to e-waste.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3977639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41148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Fast &amp; private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572000"/>
            <a:ext cx="324612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A17"/>
                </a:solidFill>
                <a:latin typeface="Segoe UI"/>
              </a:defRPr>
            </a:pPr>
            <a:r>
              <a:t>~90 ms per photo on a laptop GPU, live auto-scan from the camera, nothing stored or sent to a cloud.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6" y="3977639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41148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Stress-tested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4572000"/>
            <a:ext cx="324612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A17"/>
                </a:solidFill>
                <a:latin typeface="Segoe UI"/>
              </a:defRPr>
            </a:pPr>
            <a:r>
              <a:t>Live lighting / glare / occlusion / blur simulator and measured robustness curves.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SYSTEM ARCHITECTURE &amp;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Three experts → fusion → safety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3/7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11338560" cy="4211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715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E6E66"/>
                </a:solidFill>
                <a:latin typeface="Segoe UI"/>
              </a:defRPr>
            </a:pPr>
            <a:r>
              <a:t>Data: 15,520 images, 12 classes, stratified 70/15/15 (10,864 / 2,328 / 2,328), seed 42 · Stack: PyTorch, Hugging Face Transformers (SigLIP), torchvision (ConvNeXt), scikit-learn, FastAPI, vanilla-JS web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PROTOTYPE DEMONSTRATION &amp;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Snap → bin → done (or 'not sure, please check')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840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F4A10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84047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run_app.bat → http://localhost:8000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Scan: camera, upload, drag-drop, paste, live auto-scan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Result: bin, target, item name, steps, tip, 'why this answer'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Insights: split, metrics, external datasets, failures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Stress test: lighting / glare / occlusion / blur sliders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Script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Water bottle → Yellow bin · leftover cake → Green bin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Chocolate wrapper → Red/Black (multi-layer tip)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Battery → e-waste box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Dog / noise photo → 'this isn't waste'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Occlusion slider to 60% → 'not sure - please check'</a:t>
            </a:r>
          </a:p>
        </p:txBody>
      </p:sp>
      <p:pic>
        <p:nvPicPr>
          <p:cNvPr id="10" name="Picture 9" descr="app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3474720" cy="2232508"/>
          </a:xfrm>
          <a:prstGeom prst="rect">
            <a:avLst/>
          </a:prstGeom>
        </p:spPr>
      </p:pic>
      <p:pic>
        <p:nvPicPr>
          <p:cNvPr id="11" name="Picture 10" descr="app_uncert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600200"/>
            <a:ext cx="3474720" cy="22325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TESTING, EVALUATION RESULTS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Measured on images the models never trained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5/7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7315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F4A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F4A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ConvNeXt only</a:t>
                      </a:r>
                    </a:p>
                  </a:txBody>
                  <a:tcPr>
                    <a:solidFill>
                      <a:srgbClr val="2F4A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F4A1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Kaggle test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2328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TrashNet (external) (tuning)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2527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93.4%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External set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86.6%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89.9%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Non-waste photos refused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68.7%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7"/>
                          </a:solidFill>
                          <a:latin typeface="Segoe UI"/>
                        </a:defRPr>
                      </a:pPr>
                      <a:r>
                        <a:t>93.0%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375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Kaggle test: macro-F1 98.9%, answers 97.2% of photos with 99.9% accuracy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External set #2: hybrid 89.9% vs ConvNeXt 86.6%</a:t>
            </a:r>
          </a:p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• Limits: one item per photo; occlusion &gt; 40% hurts most; cluttered trays and local items not in training data</a:t>
            </a:r>
          </a:p>
        </p:txBody>
      </p:sp>
      <p:pic>
        <p:nvPicPr>
          <p:cNvPr id="9" name="Picture 8" descr="chart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54480"/>
            <a:ext cx="5303520" cy="2784348"/>
          </a:xfrm>
          <a:prstGeom prst="rect">
            <a:avLst/>
          </a:prstGeom>
        </p:spPr>
      </p:pic>
      <p:pic>
        <p:nvPicPr>
          <p:cNvPr id="10" name="Picture 9" descr="chart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434840"/>
            <a:ext cx="5303520" cy="1287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RESPONSIBLE AI &amp;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Private, honest, and built for a greener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6/7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F4A10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Photos processed in memory on the local machine, never saved or uploaded; session stats are counts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00200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F4A10"/>
                </a:solidFill>
                <a:latin typeface="Segoe UI"/>
              </a:defRPr>
            </a:pPr>
            <a:r>
              <a:t>Bias &amp; domain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9456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Training photos are clean single items from outside India; the open-vocabulary expert covers local items, but real cafeteria accuracy will be lower than test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F4A10"/>
                </a:solidFill>
                <a:latin typeface="Segoe UI"/>
              </a:defRPr>
            </a:pPr>
            <a:r>
              <a:t>Human oversight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274320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Uncertain / out-of-scope photos never get a bin decision; users check the label, ask staff or pick the bin.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977639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F4A10"/>
                </a:solidFill>
                <a:latin typeface="Segoe UI"/>
              </a:defRPr>
            </a:pPr>
            <a:r>
              <a:t>Safety &amp; 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572000"/>
            <a:ext cx="274320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Batteries and broken glass always go to staff. Icons + text, plain language, phone-friendly, dark mode.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60020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783080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BF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029967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SDG 12.5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Responsible consumption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48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Cleaner streams → more material actually recycled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182112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336499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FD9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6118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SDG 11.6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19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Sustainable 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73075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Better campus waste management, less manual sorting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4764024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4946904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3F7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5193792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SDG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F4A10"/>
                </a:solidFill>
                <a:latin typeface="Segoe UI"/>
              </a:defRPr>
            </a:pPr>
            <a:r>
              <a:t>Climate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31266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A17"/>
                </a:solidFill>
                <a:latin typeface="Segoe UI"/>
              </a:defRPr>
            </a:pPr>
            <a:r>
              <a:t>Food scraps to compost/biogas, not landfill → less methane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F4A10"/>
              </a:gs>
              <a:gs pos="100000">
                <a:srgbClr val="6C9A22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FECC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Implemented today ·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Binzy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E6E66"/>
                </a:solidFill>
                <a:latin typeface="Segoe UI"/>
              </a:defRPr>
            </a:pPr>
            <a:r>
              <a:t>VIT AI Innovate-A-Thon · Q6 Smart Waste Segregation Assistant · 7/7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F4A10"/>
                </a:solidFill>
                <a:latin typeface="Segoe UI"/>
              </a:defRPr>
            </a:pPr>
            <a:r>
              <a:t>Implemented (working now)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Hybrid recogniser - 99.5% bin accuracy on 2,328 held-out test photos, 89.9% on an unseen external dataset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Open vocabulary: 202 everyday waste items incl. Indian cafeteria waste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Camera, upload and live auto-scan web app (Ghumzy design language)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5 bins, item tips, 'not waste' + 'not sure' safety net with manual override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Documented split, external-dataset tests, failure gallery, robustness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2791B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Collect &amp; label photos in the VIT cafeteria; fine-tune on them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Multi-item tray detection (YOLO + TACO dataset)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Edge box at the bin: ONNX / INT8, LED ring light, lid that opens the right bin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Contamination dashboard for the sustainability team</a:t>
            </a:r>
          </a:p>
          <a:p>
            <a:pPr>
              <a:spcAft>
                <a:spcPts val="600"/>
              </a:spcAft>
              <a:defRPr sz="1400" b="0">
                <a:solidFill>
                  <a:srgbClr val="1A1A17"/>
                </a:solidFill>
                <a:latin typeface="Segoe UI"/>
              </a:defRPr>
            </a:pPr>
            <a:r>
              <a:t>• Hindi / Tamil labels and voice prompts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